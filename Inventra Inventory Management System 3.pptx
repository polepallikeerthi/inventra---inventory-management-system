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317" r:id="rId5"/>
    <p:sldId id="307" r:id="rId6"/>
    <p:sldId id="308" r:id="rId7"/>
    <p:sldId id="278" r:id="rId8"/>
    <p:sldId id="309" r:id="rId9"/>
    <p:sldId id="310" r:id="rId10"/>
    <p:sldId id="311"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8" d="100"/>
          <a:sy n="78" d="100"/>
        </p:scale>
        <p:origin x="878" y="4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2/3/2026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45421" y="1347020"/>
            <a:ext cx="9732411" cy="3539613"/>
          </a:xfrm>
        </p:spPr>
        <p:txBody>
          <a:bodyPr anchor="ctr"/>
          <a:lstStyle/>
          <a:p>
            <a:r>
              <a:rPr lang="en-US" dirty="0" err="1">
                <a:latin typeface="Times New Roman" panose="02020603050405020304" pitchFamily="18" charset="0"/>
                <a:cs typeface="Times New Roman" panose="02020603050405020304" pitchFamily="18" charset="0"/>
              </a:rPr>
              <a:t>Inventra</a:t>
            </a:r>
            <a:r>
              <a:rPr lang="en-US" dirty="0">
                <a:latin typeface="Times New Roman" panose="02020603050405020304" pitchFamily="18" charset="0"/>
                <a:cs typeface="Times New Roman" panose="02020603050405020304" pitchFamily="18" charset="0"/>
              </a:rPr>
              <a:t> Intelligent Inventory Management System</a:t>
            </a:r>
            <a:br>
              <a:rPr lang="en-US"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Module 3</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Alert Module</a:t>
            </a:r>
            <a:br>
              <a:rPr lang="en-IN" sz="2800" dirty="0"/>
            </a:br>
            <a:endParaRPr lang="en-US" dirty="0"/>
          </a:p>
        </p:txBody>
      </p:sp>
      <p:sp>
        <p:nvSpPr>
          <p:cNvPr id="2" name="TextBox 1">
            <a:extLst>
              <a:ext uri="{FF2B5EF4-FFF2-40B4-BE49-F238E27FC236}">
                <a16:creationId xmlns:a16="http://schemas.microsoft.com/office/drawing/2014/main" id="{76AB56C7-CC9D-4930-06A9-BF842C2A0C03}"/>
              </a:ext>
            </a:extLst>
          </p:cNvPr>
          <p:cNvSpPr txBox="1"/>
          <p:nvPr/>
        </p:nvSpPr>
        <p:spPr>
          <a:xfrm>
            <a:off x="8011766" y="4277032"/>
            <a:ext cx="3234813" cy="738664"/>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Presented By:</a:t>
            </a:r>
          </a:p>
          <a:p>
            <a:r>
              <a:rPr lang="en-US" sz="2100" dirty="0" err="1">
                <a:latin typeface="Times New Roman" panose="02020603050405020304" pitchFamily="18" charset="0"/>
                <a:cs typeface="Times New Roman" panose="02020603050405020304" pitchFamily="18" charset="0"/>
              </a:rPr>
              <a:t>P.Keerthi</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sz="5000" dirty="0">
                <a:solidFill>
                  <a:schemeClr val="tx1"/>
                </a:solidFill>
              </a:rPr>
              <a:t>Contents</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2378606889"/>
              </p:ext>
            </p:extLst>
          </p:nvPr>
        </p:nvGraphicFramePr>
        <p:xfrm>
          <a:off x="6869113" y="1143000"/>
          <a:ext cx="4190999" cy="4614818"/>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78279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j-lt"/>
                          <a:cs typeface="Gill Sans Light" panose="020B0302020104020203" pitchFamily="34" charset="-79"/>
                        </a:rPr>
                        <a:t>INTRODUCTION</a:t>
                      </a:r>
                    </a:p>
                    <a:p>
                      <a:pPr algn="r"/>
                      <a:r>
                        <a:rPr lang="en-US" sz="2400" b="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008">
                <a:tc>
                  <a:txBody>
                    <a:bodyPr/>
                    <a:lstStyle/>
                    <a:p>
                      <a:pPr algn="r"/>
                      <a:r>
                        <a:rPr lang="en-US" sz="2400" b="0" kern="1200" dirty="0">
                          <a:solidFill>
                            <a:schemeClr val="tx1"/>
                          </a:solidFill>
                          <a:latin typeface="+mj-lt"/>
                          <a:ea typeface="+mn-ea"/>
                          <a:cs typeface="+mn-cs"/>
                        </a:rPr>
                        <a:t>CLASSES USED</a:t>
                      </a:r>
                    </a:p>
                    <a:p>
                      <a:pPr algn="r"/>
                      <a:r>
                        <a:rPr lang="en-US" sz="2400" b="0" kern="1200" dirty="0">
                          <a:solidFill>
                            <a:schemeClr val="tx1"/>
                          </a:solidFill>
                          <a:latin typeface="+mj-lt"/>
                          <a:ea typeface="+mn-ea"/>
                          <a:cs typeface="+mn-cs"/>
                        </a:rPr>
                        <a:t>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98987">
                <a:tc>
                  <a:txBody>
                    <a:bodyPr/>
                    <a:lstStyle/>
                    <a:p>
                      <a:pPr marL="0" algn="r" defTabSz="914400" rtl="0" eaLnBrk="1" latinLnBrk="0" hangingPunct="1"/>
                      <a:r>
                        <a:rPr lang="en-US" sz="2400" b="0" kern="1200" dirty="0">
                          <a:solidFill>
                            <a:schemeClr val="tx1"/>
                          </a:solidFill>
                          <a:latin typeface="+mj-lt"/>
                          <a:ea typeface="+mn-ea"/>
                          <a:cs typeface="+mn-cs"/>
                        </a:rPr>
                        <a:t>FUNCTIONAL FLOW</a:t>
                      </a:r>
                    </a:p>
                    <a:p>
                      <a:pPr marL="0" algn="r" defTabSz="914400" rtl="0" eaLnBrk="1" latinLnBrk="0" hangingPunct="1"/>
                      <a:r>
                        <a:rPr lang="en-US" sz="2400" b="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902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PSEUDOCODES</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tx1"/>
                          </a:solidFill>
                          <a:latin typeface="+mj-lt"/>
                          <a:ea typeface="+mn-ea"/>
                          <a:cs typeface="+mn-cs"/>
                        </a:rPr>
                        <a:t>6</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854835">
                <a:tc>
                  <a:txBody>
                    <a:bodyPr/>
                    <a:lstStyle/>
                    <a:p>
                      <a:pPr marL="0" algn="r" defTabSz="914400" rtl="0" eaLnBrk="1" latinLnBrk="0" hangingPunct="1"/>
                      <a:r>
                        <a:rPr lang="en-US" sz="2400" b="0" kern="1200" dirty="0">
                          <a:solidFill>
                            <a:schemeClr val="tx1"/>
                          </a:solidFill>
                          <a:latin typeface="+mj-lt"/>
                          <a:ea typeface="+mn-ea"/>
                          <a:cs typeface="+mn-cs"/>
                        </a:rPr>
                        <a:t>CONCLUSION</a:t>
                      </a:r>
                    </a:p>
                    <a:p>
                      <a:pPr marL="0" algn="r" defTabSz="914400" rtl="0" eaLnBrk="1" latinLnBrk="0" hangingPunct="1"/>
                      <a:r>
                        <a:rPr lang="en-US" sz="2400" b="0" kern="1200" dirty="0">
                          <a:solidFill>
                            <a:schemeClr val="tx1"/>
                          </a:solidFill>
                          <a:latin typeface="+mj-lt"/>
                          <a:ea typeface="+mn-ea"/>
                          <a:cs typeface="+mn-cs"/>
                        </a:rPr>
                        <a:t>7</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757085" y="1671484"/>
            <a:ext cx="9615948" cy="3293806"/>
          </a:xfrm>
        </p:spPr>
        <p:txBody>
          <a:bodyPr/>
          <a:lstStyle/>
          <a:p>
            <a:pPr>
              <a:lnSpc>
                <a:spcPct val="150000"/>
              </a:lnSpc>
            </a:pPr>
            <a:r>
              <a:rPr lang="en-US" sz="2000" b="1" dirty="0">
                <a:latin typeface="Times New Roman" panose="02020603050405020304" pitchFamily="18" charset="0"/>
                <a:cs typeface="Times New Roman" panose="02020603050405020304" pitchFamily="18" charset="0"/>
              </a:rPr>
              <a:t>Module 3</a:t>
            </a:r>
            <a:r>
              <a:rPr lang="en-US" sz="2000" dirty="0">
                <a:latin typeface="Times New Roman" panose="02020603050405020304" pitchFamily="18" charset="0"/>
                <a:cs typeface="Times New Roman" panose="02020603050405020304" pitchFamily="18" charset="0"/>
              </a:rPr>
              <a:t> is responsible for monitoring inventory levels and generating alerts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automatically.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continuously checks stock data received from the inventory module.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This module works in the background and helps users take timely action before stock runs out.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It adds intelligence to the inventory system by reducing manual monitoring.</a:t>
            </a:r>
            <a:br>
              <a:rPr lang="en-IN" sz="2000" dirty="0">
                <a:latin typeface="Times New Roman" panose="02020603050405020304" pitchFamily="18" charset="0"/>
                <a:cs typeface="Times New Roman" panose="02020603050405020304" pitchFamily="18" charset="0"/>
              </a:rPr>
            </a:br>
            <a:endParaRPr lang="en-US" sz="2000" dirty="0"/>
          </a:p>
        </p:txBody>
      </p:sp>
      <p:sp>
        <p:nvSpPr>
          <p:cNvPr id="5" name="TextBox 4">
            <a:extLst>
              <a:ext uri="{FF2B5EF4-FFF2-40B4-BE49-F238E27FC236}">
                <a16:creationId xmlns:a16="http://schemas.microsoft.com/office/drawing/2014/main" id="{94D54B7E-1EC7-B8B7-29D0-DE6891578D8F}"/>
              </a:ext>
            </a:extLst>
          </p:cNvPr>
          <p:cNvSpPr txBox="1"/>
          <p:nvPr/>
        </p:nvSpPr>
        <p:spPr>
          <a:xfrm>
            <a:off x="648928" y="521110"/>
            <a:ext cx="8101781" cy="707886"/>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MODULE 3 – ALERT MODULE</a:t>
            </a:r>
            <a:endParaRPr lang="en-IN" sz="4000" dirty="0"/>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0E71F6A-AA04-0E11-251D-67A436E17026}"/>
              </a:ext>
            </a:extLst>
          </p:cNvPr>
          <p:cNvSpPr txBox="1"/>
          <p:nvPr/>
        </p:nvSpPr>
        <p:spPr>
          <a:xfrm>
            <a:off x="707923" y="688258"/>
            <a:ext cx="8052620" cy="707886"/>
          </a:xfrm>
          <a:prstGeom prst="rect">
            <a:avLst/>
          </a:prstGeom>
          <a:noFill/>
        </p:spPr>
        <p:txBody>
          <a:bodyPr wrap="square" rtlCol="0">
            <a:spAutoFit/>
          </a:bodyPr>
          <a:lstStyle/>
          <a:p>
            <a:r>
              <a:rPr lang="en-US" sz="4000" dirty="0">
                <a:latin typeface="+mj-lt"/>
              </a:rPr>
              <a:t>CLASSES USED IN MODULE 3</a:t>
            </a:r>
            <a:endParaRPr lang="en-IN" sz="4000" dirty="0">
              <a:latin typeface="+mj-lt"/>
            </a:endParaRPr>
          </a:p>
        </p:txBody>
      </p:sp>
      <p:sp>
        <p:nvSpPr>
          <p:cNvPr id="12" name="TextBox 11">
            <a:extLst>
              <a:ext uri="{FF2B5EF4-FFF2-40B4-BE49-F238E27FC236}">
                <a16:creationId xmlns:a16="http://schemas.microsoft.com/office/drawing/2014/main" id="{31DC2FA8-CCEB-CC14-059D-BAEC11C1D7C7}"/>
              </a:ext>
            </a:extLst>
          </p:cNvPr>
          <p:cNvSpPr txBox="1"/>
          <p:nvPr/>
        </p:nvSpPr>
        <p:spPr>
          <a:xfrm>
            <a:off x="983226" y="1740310"/>
            <a:ext cx="9144000" cy="4892814"/>
          </a:xfrm>
          <a:prstGeom prst="rect">
            <a:avLst/>
          </a:prstGeom>
          <a:noFill/>
        </p:spPr>
        <p:txBody>
          <a:bodyPr wrap="square" rtlCol="0">
            <a:spAutoFit/>
          </a:bodyPr>
          <a:lstStyle/>
          <a:p>
            <a:pPr>
              <a:lnSpc>
                <a:spcPct val="150000"/>
              </a:lnSpc>
            </a:pPr>
            <a:r>
              <a:rPr lang="en-US" sz="2100" b="1" dirty="0">
                <a:latin typeface="Times New Roman" panose="02020603050405020304" pitchFamily="18" charset="0"/>
                <a:cs typeface="Times New Roman" panose="02020603050405020304" pitchFamily="18" charset="0"/>
              </a:rPr>
              <a:t>Service Layer</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dirty="0" err="1">
                <a:latin typeface="Times New Roman" panose="02020603050405020304" pitchFamily="18" charset="0"/>
                <a:cs typeface="Times New Roman" panose="02020603050405020304" pitchFamily="18" charset="0"/>
              </a:rPr>
              <a:t>AlertService</a:t>
            </a:r>
            <a:r>
              <a:rPr lang="en-US" sz="2100" dirty="0">
                <a:latin typeface="Times New Roman" panose="02020603050405020304" pitchFamily="18" charset="0"/>
                <a:cs typeface="Times New Roman" panose="02020603050405020304" pitchFamily="18" charset="0"/>
              </a:rPr>
              <a:t> – checks stock conditions</a:t>
            </a:r>
          </a:p>
          <a:p>
            <a:pPr>
              <a:lnSpc>
                <a:spcPct val="150000"/>
              </a:lnSpc>
            </a:pPr>
            <a:r>
              <a:rPr lang="en-US" sz="2100" dirty="0" err="1">
                <a:latin typeface="Times New Roman" panose="02020603050405020304" pitchFamily="18" charset="0"/>
                <a:cs typeface="Times New Roman" panose="02020603050405020304" pitchFamily="18" charset="0"/>
              </a:rPr>
              <a:t>NotificationService</a:t>
            </a:r>
            <a:r>
              <a:rPr lang="en-US" sz="2100" dirty="0">
                <a:latin typeface="Times New Roman" panose="02020603050405020304" pitchFamily="18" charset="0"/>
                <a:cs typeface="Times New Roman" panose="02020603050405020304" pitchFamily="18" charset="0"/>
              </a:rPr>
              <a:t> – sends alerts</a:t>
            </a:r>
          </a:p>
          <a:p>
            <a:pPr>
              <a:lnSpc>
                <a:spcPct val="150000"/>
              </a:lnSpc>
            </a:pPr>
            <a:r>
              <a:rPr lang="en-US" sz="2100" b="1" dirty="0">
                <a:latin typeface="Times New Roman" panose="02020603050405020304" pitchFamily="18" charset="0"/>
                <a:cs typeface="Times New Roman" panose="02020603050405020304" pitchFamily="18" charset="0"/>
              </a:rPr>
              <a:t>Supporting Classes</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dirty="0">
                <a:latin typeface="Times New Roman" panose="02020603050405020304" pitchFamily="18" charset="0"/>
                <a:cs typeface="Times New Roman" panose="02020603050405020304" pitchFamily="18" charset="0"/>
              </a:rPr>
              <a:t>Product – provides stock and threshold data</a:t>
            </a:r>
          </a:p>
          <a:p>
            <a:pPr>
              <a:lnSpc>
                <a:spcPct val="150000"/>
              </a:lnSpc>
            </a:pPr>
            <a:r>
              <a:rPr lang="en-US" sz="2100" dirty="0">
                <a:latin typeface="Times New Roman" panose="02020603050405020304" pitchFamily="18" charset="0"/>
                <a:cs typeface="Times New Roman" panose="02020603050405020304" pitchFamily="18" charset="0"/>
              </a:rPr>
              <a:t>User – identifies alert recipients</a:t>
            </a:r>
          </a:p>
          <a:p>
            <a:pPr>
              <a:lnSpc>
                <a:spcPct val="150000"/>
              </a:lnSpc>
            </a:pPr>
            <a:r>
              <a:rPr lang="en-US" sz="2100" b="1" dirty="0">
                <a:latin typeface="Times New Roman" panose="02020603050405020304" pitchFamily="18" charset="0"/>
                <a:cs typeface="Times New Roman" panose="02020603050405020304" pitchFamily="18" charset="0"/>
              </a:rPr>
              <a:t>Utility Components</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dirty="0">
                <a:latin typeface="Times New Roman" panose="02020603050405020304" pitchFamily="18" charset="0"/>
                <a:cs typeface="Times New Roman" panose="02020603050405020304" pitchFamily="18" charset="0"/>
              </a:rPr>
              <a:t>Email / Dashboard Notification Utility</a:t>
            </a:r>
          </a:p>
          <a:p>
            <a:pPr lvl="0" algn="just" eaLnBrk="0" fontAlgn="base" hangingPunct="0">
              <a:lnSpc>
                <a:spcPct val="150000"/>
              </a:lnSpc>
              <a:spcBef>
                <a:spcPct val="0"/>
              </a:spcBef>
              <a:spcAft>
                <a:spcPct val="0"/>
              </a:spcAft>
            </a:pPr>
            <a:endParaRPr lang="en-US" altLang="en-US" sz="2100" dirty="0">
              <a:latin typeface="Times New Roman" panose="02020603050405020304" pitchFamily="18" charset="0"/>
              <a:cs typeface="Times New Roman" panose="02020603050405020304" pitchFamily="18" charset="0"/>
            </a:endParaRPr>
          </a:p>
          <a:p>
            <a:pPr>
              <a:lnSpc>
                <a:spcPct val="150000"/>
              </a:lnSpc>
            </a:pPr>
            <a:endParaRPr lang="en-IN" sz="2100" dirty="0"/>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IN" dirty="0"/>
              <a:t>FUNCTIONAL FLOW – INVENTORY ALERTS</a:t>
            </a:r>
            <a:endParaRPr lang="en-US"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r>
              <a:rPr lang="en-US" dirty="0">
                <a:latin typeface="Times New Roman" panose="02020603050405020304" pitchFamily="18" charset="0"/>
                <a:cs typeface="Times New Roman" panose="02020603050405020304" pitchFamily="18" charset="0"/>
              </a:rPr>
              <a:t>Stock is updated through stock-in or stock-out operations</a:t>
            </a:r>
          </a:p>
          <a:p>
            <a:r>
              <a:rPr lang="en-US" dirty="0">
                <a:latin typeface="Times New Roman" panose="02020603050405020304" pitchFamily="18" charset="0"/>
                <a:cs typeface="Times New Roman" panose="02020603050405020304" pitchFamily="18" charset="0"/>
              </a:rPr>
              <a:t>Updated product details are sent to </a:t>
            </a:r>
            <a:r>
              <a:rPr lang="en-US" dirty="0" err="1">
                <a:latin typeface="Times New Roman" panose="02020603050405020304" pitchFamily="18" charset="0"/>
                <a:cs typeface="Times New Roman" panose="02020603050405020304" pitchFamily="18" charset="0"/>
              </a:rPr>
              <a:t>AlertService</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AlertService</a:t>
            </a:r>
            <a:r>
              <a:rPr lang="en-US" dirty="0">
                <a:latin typeface="Times New Roman" panose="02020603050405020304" pitchFamily="18" charset="0"/>
                <a:cs typeface="Times New Roman" panose="02020603050405020304" pitchFamily="18" charset="0"/>
              </a:rPr>
              <a:t> compares stock quantity with minimum stock level</a:t>
            </a:r>
          </a:p>
          <a:p>
            <a:r>
              <a:rPr lang="en-US" dirty="0">
                <a:latin typeface="Times New Roman" panose="02020603050405020304" pitchFamily="18" charset="0"/>
                <a:cs typeface="Times New Roman" panose="02020603050405020304" pitchFamily="18" charset="0"/>
              </a:rPr>
              <a:t>If stock is low, </a:t>
            </a:r>
            <a:r>
              <a:rPr lang="en-US" dirty="0" err="1">
                <a:latin typeface="Times New Roman" panose="02020603050405020304" pitchFamily="18" charset="0"/>
                <a:cs typeface="Times New Roman" panose="02020603050405020304" pitchFamily="18" charset="0"/>
              </a:rPr>
              <a:t>NotificationService</a:t>
            </a:r>
            <a:r>
              <a:rPr lang="en-US" dirty="0">
                <a:latin typeface="Times New Roman" panose="02020603050405020304" pitchFamily="18" charset="0"/>
                <a:cs typeface="Times New Roman" panose="02020603050405020304" pitchFamily="18" charset="0"/>
              </a:rPr>
              <a:t> is triggered</a:t>
            </a:r>
          </a:p>
          <a:p>
            <a:r>
              <a:rPr lang="en-US" dirty="0">
                <a:latin typeface="Times New Roman" panose="02020603050405020304" pitchFamily="18" charset="0"/>
                <a:cs typeface="Times New Roman" panose="02020603050405020304" pitchFamily="18" charset="0"/>
              </a:rPr>
              <a:t>Alert is sent to the responsible user</a:t>
            </a:r>
          </a:p>
          <a:p>
            <a:pPr marL="0" indent="0">
              <a:buNone/>
            </a:pP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Flow Representation:</a:t>
            </a:r>
            <a:endParaRPr lang="en-US" dirty="0">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pPr>
            <a:r>
              <a:rPr lang="en-US" altLang="en-US" dirty="0" err="1">
                <a:latin typeface="Times New Roman" panose="02020603050405020304" pitchFamily="18" charset="0"/>
                <a:cs typeface="Times New Roman" panose="02020603050405020304" pitchFamily="18" charset="0"/>
              </a:rPr>
              <a:t>ProductService</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AlertService</a:t>
            </a:r>
            <a:r>
              <a:rPr lang="en-US" altLang="en-US" dirty="0">
                <a:latin typeface="Times New Roman" panose="02020603050405020304" pitchFamily="18" charset="0"/>
                <a:cs typeface="Times New Roman" panose="02020603050405020304" pitchFamily="18" charset="0"/>
              </a:rPr>
              <a:t> → </a:t>
            </a:r>
            <a:r>
              <a:rPr lang="en-US" altLang="en-US" dirty="0" err="1">
                <a:latin typeface="Times New Roman" panose="02020603050405020304" pitchFamily="18" charset="0"/>
                <a:cs typeface="Times New Roman" panose="02020603050405020304" pitchFamily="18" charset="0"/>
              </a:rPr>
              <a:t>NotificationService</a:t>
            </a:r>
            <a:r>
              <a:rPr lang="en-US" altLang="en-US" dirty="0">
                <a:latin typeface="Times New Roman" panose="02020603050405020304" pitchFamily="18" charset="0"/>
                <a:cs typeface="Times New Roman" panose="02020603050405020304" pitchFamily="18" charset="0"/>
              </a:rPr>
              <a:t> → User</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IN" dirty="0"/>
              <a:t>PSEUDOCODE</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4919854" cy="3877055"/>
          </a:xfrm>
        </p:spPr>
        <p:txBody>
          <a:bodyPr/>
          <a:lstStyle/>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ALERT SERVICE:</a:t>
            </a:r>
          </a:p>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FUNCTION </a:t>
            </a:r>
            <a:r>
              <a:rPr lang="en-US" altLang="en-US" dirty="0" err="1">
                <a:latin typeface="Times New Roman" panose="02020603050405020304" pitchFamily="18" charset="0"/>
                <a:cs typeface="Times New Roman" panose="02020603050405020304" pitchFamily="18" charset="0"/>
              </a:rPr>
              <a:t>checkLowStock</a:t>
            </a:r>
            <a:r>
              <a:rPr lang="en-US" altLang="en-US" dirty="0">
                <a:latin typeface="Times New Roman" panose="02020603050405020304" pitchFamily="18" charset="0"/>
                <a:cs typeface="Times New Roman" panose="02020603050405020304" pitchFamily="18" charset="0"/>
              </a:rPr>
              <a:t>(product)</a:t>
            </a:r>
          </a:p>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    IF </a:t>
            </a:r>
            <a:r>
              <a:rPr lang="en-US" altLang="en-US" dirty="0" err="1">
                <a:latin typeface="Times New Roman" panose="02020603050405020304" pitchFamily="18" charset="0"/>
                <a:cs typeface="Times New Roman" panose="02020603050405020304" pitchFamily="18" charset="0"/>
              </a:rPr>
              <a:t>product.stock</a:t>
            </a:r>
            <a:r>
              <a:rPr lang="en-US" altLang="en-US" dirty="0">
                <a:latin typeface="Times New Roman" panose="02020603050405020304" pitchFamily="18" charset="0"/>
                <a:cs typeface="Times New Roman" panose="02020603050405020304" pitchFamily="18" charset="0"/>
              </a:rPr>
              <a:t> &lt;</a:t>
            </a:r>
            <a:r>
              <a:rPr lang="en-US" altLang="en-US" dirty="0" err="1">
                <a:latin typeface="Times New Roman" panose="02020603050405020304" pitchFamily="18" charset="0"/>
                <a:cs typeface="Times New Roman" panose="02020603050405020304" pitchFamily="18" charset="0"/>
              </a:rPr>
              <a:t>product.minStockLevel</a:t>
            </a:r>
            <a:endParaRPr lang="en-US" altLang="en-US"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NotificationService.sendAlert</a:t>
            </a:r>
            <a:r>
              <a:rPr lang="en-US" altLang="en-US" dirty="0">
                <a:latin typeface="Times New Roman" panose="02020603050405020304" pitchFamily="18" charset="0"/>
                <a:cs typeface="Times New Roman" panose="02020603050405020304" pitchFamily="18" charset="0"/>
              </a:rPr>
              <a:t>(product)</a:t>
            </a:r>
          </a:p>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    END IF</a:t>
            </a:r>
          </a:p>
          <a:p>
            <a:pPr lvl="0" eaLnBrk="0" fontAlgn="base" hangingPunct="0">
              <a:lnSpc>
                <a:spcPct val="150000"/>
              </a:lnSpc>
              <a:spcBef>
                <a:spcPct val="0"/>
              </a:spcBef>
              <a:spcAft>
                <a:spcPct val="0"/>
              </a:spcAft>
            </a:pPr>
            <a:r>
              <a:rPr lang="en-US" altLang="en-US" dirty="0">
                <a:latin typeface="Times New Roman" panose="02020603050405020304" pitchFamily="18" charset="0"/>
                <a:cs typeface="Times New Roman" panose="02020603050405020304" pitchFamily="18" charset="0"/>
              </a:rPr>
              <a:t>END FUNCTION</a:t>
            </a:r>
          </a:p>
          <a:p>
            <a:pPr lvl="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8" y="2176764"/>
            <a:ext cx="4576953" cy="3877055"/>
          </a:xfrm>
        </p:spPr>
        <p:txBody>
          <a:bodyPr>
            <a:normAutofit/>
          </a:bodyPr>
          <a:lstStyle/>
          <a:p>
            <a:r>
              <a:rPr lang="en-US" dirty="0">
                <a:latin typeface="Times New Roman" panose="02020603050405020304" pitchFamily="18" charset="0"/>
                <a:cs typeface="Times New Roman" panose="02020603050405020304" pitchFamily="18" charset="0"/>
              </a:rPr>
              <a:t>NOTIFICATION SERVICE:</a:t>
            </a:r>
          </a:p>
          <a:p>
            <a:r>
              <a:rPr lang="en-IN" dirty="0">
                <a:latin typeface="Times New Roman" panose="02020603050405020304" pitchFamily="18" charset="0"/>
                <a:cs typeface="Times New Roman" panose="02020603050405020304" pitchFamily="18" charset="0"/>
              </a:rPr>
              <a:t>FUNCTION </a:t>
            </a:r>
            <a:r>
              <a:rPr lang="en-IN" dirty="0" err="1">
                <a:latin typeface="Times New Roman" panose="02020603050405020304" pitchFamily="18" charset="0"/>
                <a:cs typeface="Times New Roman" panose="02020603050405020304" pitchFamily="18" charset="0"/>
              </a:rPr>
              <a:t>sendAlert</a:t>
            </a:r>
            <a:r>
              <a:rPr lang="en-IN" dirty="0">
                <a:latin typeface="Times New Roman" panose="02020603050405020304" pitchFamily="18" charset="0"/>
                <a:cs typeface="Times New Roman" panose="02020603050405020304" pitchFamily="18" charset="0"/>
              </a:rPr>
              <a:t>(product)</a:t>
            </a:r>
          </a:p>
          <a:p>
            <a:r>
              <a:rPr lang="en-IN" dirty="0">
                <a:latin typeface="Times New Roman" panose="02020603050405020304" pitchFamily="18" charset="0"/>
                <a:cs typeface="Times New Roman" panose="02020603050405020304" pitchFamily="18" charset="0"/>
              </a:rPr>
              <a:t>    prepare alert message</a:t>
            </a:r>
          </a:p>
          <a:p>
            <a:r>
              <a:rPr lang="en-IN" dirty="0">
                <a:latin typeface="Times New Roman" panose="02020603050405020304" pitchFamily="18" charset="0"/>
                <a:cs typeface="Times New Roman" panose="02020603050405020304" pitchFamily="18" charset="0"/>
              </a:rPr>
              <a:t>    send notification to admin</a:t>
            </a:r>
          </a:p>
          <a:p>
            <a:r>
              <a:rPr lang="en-IN" dirty="0">
                <a:latin typeface="Times New Roman" panose="02020603050405020304" pitchFamily="18" charset="0"/>
                <a:cs typeface="Times New Roman" panose="02020603050405020304" pitchFamily="18" charset="0"/>
              </a:rPr>
              <a:t>END FUNCTION</a:t>
            </a:r>
          </a:p>
          <a:p>
            <a:endParaRPr lang="en-IN" dirty="0">
              <a:latin typeface="Times New Roman" panose="02020603050405020304" pitchFamily="18" charset="0"/>
              <a:cs typeface="Times New Roman" panose="02020603050405020304" pitchFamily="18" charset="0"/>
            </a:endParaRPr>
          </a:p>
          <a:p>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914399" y="747252"/>
            <a:ext cx="10360152" cy="914400"/>
          </a:xfrm>
        </p:spPr>
        <p:txBody>
          <a:bodyPr/>
          <a:lstStyle/>
          <a:p>
            <a:r>
              <a:rPr lang="en-US" dirty="0"/>
              <a:t>Conclusion</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3" name="TextBox 2">
            <a:extLst>
              <a:ext uri="{FF2B5EF4-FFF2-40B4-BE49-F238E27FC236}">
                <a16:creationId xmlns:a16="http://schemas.microsoft.com/office/drawing/2014/main" id="{5F88387D-6A72-30D7-F3C2-88655958F061}"/>
              </a:ext>
            </a:extLst>
          </p:cNvPr>
          <p:cNvSpPr txBox="1"/>
          <p:nvPr/>
        </p:nvSpPr>
        <p:spPr>
          <a:xfrm>
            <a:off x="914399" y="2034270"/>
            <a:ext cx="10360151" cy="3427477"/>
          </a:xfrm>
          <a:prstGeom prst="rect">
            <a:avLst/>
          </a:prstGeom>
          <a:noFill/>
        </p:spPr>
        <p:txBody>
          <a:bodyPr wrap="square">
            <a:spAutoFit/>
          </a:bodyPr>
          <a:lstStyle/>
          <a:p>
            <a:pPr>
              <a:lnSpc>
                <a:spcPct val="150000"/>
              </a:lnSpc>
            </a:pPr>
            <a:r>
              <a:rPr lang="en-US" sz="2100" dirty="0">
                <a:latin typeface="Times New Roman" panose="02020603050405020304" pitchFamily="18" charset="0"/>
                <a:cs typeface="Times New Roman" panose="02020603050405020304" pitchFamily="18" charset="0"/>
              </a:rPr>
              <a:t>The Alert Module plays an important role in ensuring efficient inventory management.</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It continuously monitors product stock levels and system conditions.</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Whenever stock falls below a predefined threshold, alerts are generated automatically.</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This helps administrators take timely action and avoid stock shortages.</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The module reduces manual monitoring and improves system reliability.</a:t>
            </a:r>
            <a:br>
              <a:rPr lang="en-US" sz="2100" dirty="0">
                <a:latin typeface="Times New Roman" panose="02020603050405020304" pitchFamily="18" charset="0"/>
                <a:cs typeface="Times New Roman" panose="02020603050405020304" pitchFamily="18" charset="0"/>
              </a:rPr>
            </a:br>
            <a:r>
              <a:rPr lang="en-US" sz="2100" dirty="0">
                <a:latin typeface="Times New Roman" panose="02020603050405020304" pitchFamily="18" charset="0"/>
                <a:cs typeface="Times New Roman" panose="02020603050405020304" pitchFamily="18" charset="0"/>
              </a:rPr>
              <a:t>Overall, the Alert Module enhances responsiveness, accuracy, and operational efficiency in the </a:t>
            </a:r>
            <a:r>
              <a:rPr lang="en-US" sz="2100" dirty="0" err="1">
                <a:latin typeface="Times New Roman" panose="02020603050405020304" pitchFamily="18" charset="0"/>
                <a:cs typeface="Times New Roman" panose="02020603050405020304" pitchFamily="18" charset="0"/>
              </a:rPr>
              <a:t>Inventra</a:t>
            </a:r>
            <a:r>
              <a:rPr lang="en-US" sz="2100" dirty="0">
                <a:latin typeface="Times New Roman" panose="02020603050405020304" pitchFamily="18" charset="0"/>
                <a:cs typeface="Times New Roman" panose="02020603050405020304" pitchFamily="18" charset="0"/>
              </a:rPr>
              <a:t> system.</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424516" y="914400"/>
            <a:ext cx="5641848" cy="5029200"/>
          </a:xfrm>
        </p:spPr>
        <p:txBody>
          <a:bodyPr/>
          <a:lstStyle/>
          <a:p>
            <a:r>
              <a:rPr lang="en-US" sz="6000"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{C7E10809-76D9-446C-BCAD-DA6CE8808011}tf11964407_win32</Template>
  <TotalTime>14</TotalTime>
  <Words>327</Words>
  <Application>Microsoft Office PowerPoint</Application>
  <PresentationFormat>Widescreen</PresentationFormat>
  <Paragraphs>60</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Courier New</vt:lpstr>
      <vt:lpstr>Gill Sans Nova Light</vt:lpstr>
      <vt:lpstr>Sagona Book</vt:lpstr>
      <vt:lpstr>Times New Roman</vt:lpstr>
      <vt:lpstr>Custom</vt:lpstr>
      <vt:lpstr>Inventra Intelligent Inventory Management System Module 3 Alert Module </vt:lpstr>
      <vt:lpstr>Contents</vt:lpstr>
      <vt:lpstr>Module 3 is responsible for monitoring inventory levels and generating alerts automatically. It continuously checks stock data received from the inventory module. This module works in the background and helps users take timely action before stock runs out. It adds intelligence to the inventory system by reducing manual monitoring. </vt:lpstr>
      <vt:lpstr>PowerPoint Presentation</vt:lpstr>
      <vt:lpstr>FUNCTIONAL FLOW – INVENTORY ALERTS</vt:lpstr>
      <vt:lpstr>PSEUDOCODE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polepalli keerthi</dc:creator>
  <cp:lastModifiedBy>polepalli keerthi</cp:lastModifiedBy>
  <cp:revision>1</cp:revision>
  <dcterms:created xsi:type="dcterms:W3CDTF">2026-02-03T11:57:29Z</dcterms:created>
  <dcterms:modified xsi:type="dcterms:W3CDTF">2026-02-03T12:12:13Z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